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4"/>
  </p:sldMasterIdLst>
  <p:notesMasterIdLst>
    <p:notesMasterId r:id="rId7"/>
  </p:notesMasterIdLst>
  <p:handoutMasterIdLst>
    <p:handoutMasterId r:id="rId8"/>
  </p:handoutMasterIdLst>
  <p:sldIdLst>
    <p:sldId id="323" r:id="rId5"/>
    <p:sldId id="325" r:id="rId6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Times New Roman" panose="02020603050405020304" pitchFamily="18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Times New Roman" panose="02020603050405020304" pitchFamily="18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Times New Roman" panose="02020603050405020304" pitchFamily="18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Times New Roman" panose="02020603050405020304" pitchFamily="18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Times New Roman" panose="02020603050405020304" pitchFamily="18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Times New Roman" panose="02020603050405020304" pitchFamily="18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Times New Roman" panose="02020603050405020304" pitchFamily="18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Times New Roman" panose="02020603050405020304" pitchFamily="18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Times New Roman" panose="02020603050405020304" pitchFamily="18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624" userDrawn="1">
          <p15:clr>
            <a:srgbClr val="A4A3A4"/>
          </p15:clr>
        </p15:guide>
        <p15:guide id="2" pos="29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9933"/>
    <a:srgbClr val="FFFF99"/>
    <a:srgbClr val="FFFF66"/>
    <a:srgbClr val="00FF00"/>
    <a:srgbClr val="66FF66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226" autoAdjust="0"/>
    <p:restoredTop sz="94660"/>
  </p:normalViewPr>
  <p:slideViewPr>
    <p:cSldViewPr>
      <p:cViewPr varScale="1">
        <p:scale>
          <a:sx n="77" d="100"/>
          <a:sy n="77" d="100"/>
        </p:scale>
        <p:origin x="1176" y="72"/>
      </p:cViewPr>
      <p:guideLst>
        <p:guide orient="horz" pos="624"/>
        <p:guide pos="292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388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8" Type="http://schemas.openxmlformats.org/officeDocument/2006/relationships/handoutMaster" Target="handoutMasters/handout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C0DE0A5-3EE8-71CA-F300-2CD832ECE41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1DCFD5-FB91-EB78-4028-AB2A657069B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1EA26B39-CC95-4B97-ABB2-CCCF3D44B329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3094B7-0C33-D78F-9C25-5E9AFAF246C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AB2952-822D-A39D-1CA6-2D3A2F13EE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F7B06A87-2605-4425-B540-5AB482E73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4192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938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Arial" charset="0"/>
              </a:defRPr>
            </a:lvl1pPr>
          </a:lstStyle>
          <a:p>
            <a:pPr>
              <a:defRPr/>
            </a:pPr>
            <a:fld id="{43FD115E-2743-42BB-B965-D4D812AB6DF1}" type="datetimeFigureOut">
              <a:rPr lang="en-US"/>
              <a:pPr>
                <a:defRPr/>
              </a:pPr>
              <a:t>7/3/2025</a:t>
            </a:fld>
            <a:endParaRPr lang="en-US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040" y="4415790"/>
            <a:ext cx="5608320" cy="4183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50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967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50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DFCCCC24-4F76-4E8F-855B-6B69FFDF8D4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7066" indent="-291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64717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30604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96491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DC2228D-0BB2-47AF-81B7-3C5A317198C0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FE577E9-CF65-4ACE-B227-6A6E176007E1}" type="slidenum">
              <a:rPr lang="en-US" altLang="en-US"/>
              <a:pPr/>
              <a:t>‹#›</a:t>
            </a:fld>
            <a:r>
              <a:rPr lang="en-US" alt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1639588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 userDrawn="1"/>
        </p:nvGrpSpPr>
        <p:grpSpPr bwMode="auto">
          <a:xfrm>
            <a:off x="111125" y="862013"/>
            <a:ext cx="8801100" cy="90487"/>
            <a:chOff x="471" y="690"/>
            <a:chExt cx="5016" cy="189"/>
          </a:xfrm>
        </p:grpSpPr>
        <p:grpSp>
          <p:nvGrpSpPr>
            <p:cNvPr id="1033" name="Group 3"/>
            <p:cNvGrpSpPr>
              <a:grpSpLocks/>
            </p:cNvGrpSpPr>
            <p:nvPr/>
          </p:nvGrpSpPr>
          <p:grpSpPr bwMode="auto">
            <a:xfrm>
              <a:off x="5369" y="690"/>
              <a:ext cx="118" cy="189"/>
              <a:chOff x="5369" y="690"/>
              <a:chExt cx="118" cy="189"/>
            </a:xfrm>
          </p:grpSpPr>
          <p:sp>
            <p:nvSpPr>
              <p:cNvPr id="1048" name="Rectangle 4"/>
              <p:cNvSpPr>
                <a:spLocks noChangeArrowheads="1"/>
              </p:cNvSpPr>
              <p:nvPr/>
            </p:nvSpPr>
            <p:spPr bwMode="auto">
              <a:xfrm>
                <a:off x="5459" y="690"/>
                <a:ext cx="28" cy="189"/>
              </a:xfrm>
              <a:prstGeom prst="rect">
                <a:avLst/>
              </a:prstGeom>
              <a:gradFill rotWithShape="0">
                <a:gsLst>
                  <a:gs pos="0">
                    <a:srgbClr val="3366FF"/>
                  </a:gs>
                  <a:gs pos="100000">
                    <a:srgbClr val="182F76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/>
              </a:p>
            </p:txBody>
          </p:sp>
          <p:sp>
            <p:nvSpPr>
              <p:cNvPr id="1049" name="Rectangle 5"/>
              <p:cNvSpPr>
                <a:spLocks noChangeArrowheads="1"/>
              </p:cNvSpPr>
              <p:nvPr/>
            </p:nvSpPr>
            <p:spPr bwMode="auto">
              <a:xfrm>
                <a:off x="5369" y="690"/>
                <a:ext cx="57" cy="189"/>
              </a:xfrm>
              <a:prstGeom prst="rect">
                <a:avLst/>
              </a:prstGeom>
              <a:gradFill rotWithShape="0">
                <a:gsLst>
                  <a:gs pos="0">
                    <a:srgbClr val="3366FF"/>
                  </a:gs>
                  <a:gs pos="100000">
                    <a:srgbClr val="182F76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/>
              </a:p>
            </p:txBody>
          </p:sp>
        </p:grpSp>
        <p:grpSp>
          <p:nvGrpSpPr>
            <p:cNvPr id="1034" name="Group 6"/>
            <p:cNvGrpSpPr>
              <a:grpSpLocks/>
            </p:cNvGrpSpPr>
            <p:nvPr/>
          </p:nvGrpSpPr>
          <p:grpSpPr bwMode="auto">
            <a:xfrm>
              <a:off x="5074" y="690"/>
              <a:ext cx="251" cy="189"/>
              <a:chOff x="5074" y="690"/>
              <a:chExt cx="251" cy="189"/>
            </a:xfrm>
          </p:grpSpPr>
          <p:sp>
            <p:nvSpPr>
              <p:cNvPr id="1046" name="Rectangle 7"/>
              <p:cNvSpPr>
                <a:spLocks noChangeArrowheads="1"/>
              </p:cNvSpPr>
              <p:nvPr/>
            </p:nvSpPr>
            <p:spPr bwMode="auto">
              <a:xfrm>
                <a:off x="5236" y="690"/>
                <a:ext cx="89" cy="189"/>
              </a:xfrm>
              <a:prstGeom prst="rect">
                <a:avLst/>
              </a:prstGeom>
              <a:gradFill rotWithShape="0">
                <a:gsLst>
                  <a:gs pos="0">
                    <a:srgbClr val="3366FF"/>
                  </a:gs>
                  <a:gs pos="100000">
                    <a:srgbClr val="182F76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/>
              </a:p>
            </p:txBody>
          </p:sp>
          <p:sp>
            <p:nvSpPr>
              <p:cNvPr id="1047" name="Rectangle 8"/>
              <p:cNvSpPr>
                <a:spLocks noChangeArrowheads="1"/>
              </p:cNvSpPr>
              <p:nvPr/>
            </p:nvSpPr>
            <p:spPr bwMode="auto">
              <a:xfrm>
                <a:off x="5074" y="690"/>
                <a:ext cx="119" cy="189"/>
              </a:xfrm>
              <a:prstGeom prst="rect">
                <a:avLst/>
              </a:prstGeom>
              <a:gradFill rotWithShape="0">
                <a:gsLst>
                  <a:gs pos="0">
                    <a:srgbClr val="3366FF"/>
                  </a:gs>
                  <a:gs pos="100000">
                    <a:srgbClr val="182F76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/>
              </a:p>
            </p:txBody>
          </p:sp>
        </p:grpSp>
        <p:grpSp>
          <p:nvGrpSpPr>
            <p:cNvPr id="1035" name="Group 9"/>
            <p:cNvGrpSpPr>
              <a:grpSpLocks/>
            </p:cNvGrpSpPr>
            <p:nvPr/>
          </p:nvGrpSpPr>
          <p:grpSpPr bwMode="auto">
            <a:xfrm>
              <a:off x="4667" y="690"/>
              <a:ext cx="367" cy="189"/>
              <a:chOff x="4667" y="690"/>
              <a:chExt cx="367" cy="189"/>
            </a:xfrm>
          </p:grpSpPr>
          <p:sp>
            <p:nvSpPr>
              <p:cNvPr id="1044" name="Rectangle 10"/>
              <p:cNvSpPr>
                <a:spLocks noChangeArrowheads="1"/>
              </p:cNvSpPr>
              <p:nvPr/>
            </p:nvSpPr>
            <p:spPr bwMode="auto">
              <a:xfrm>
                <a:off x="4887" y="690"/>
                <a:ext cx="147" cy="189"/>
              </a:xfrm>
              <a:prstGeom prst="rect">
                <a:avLst/>
              </a:prstGeom>
              <a:gradFill rotWithShape="0">
                <a:gsLst>
                  <a:gs pos="0">
                    <a:srgbClr val="3366FF"/>
                  </a:gs>
                  <a:gs pos="100000">
                    <a:srgbClr val="182F76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/>
              </a:p>
            </p:txBody>
          </p:sp>
          <p:sp>
            <p:nvSpPr>
              <p:cNvPr id="1045" name="Rectangle 11"/>
              <p:cNvSpPr>
                <a:spLocks noChangeArrowheads="1"/>
              </p:cNvSpPr>
              <p:nvPr/>
            </p:nvSpPr>
            <p:spPr bwMode="auto">
              <a:xfrm>
                <a:off x="4667" y="690"/>
                <a:ext cx="176" cy="189"/>
              </a:xfrm>
              <a:prstGeom prst="rect">
                <a:avLst/>
              </a:prstGeom>
              <a:gradFill rotWithShape="0">
                <a:gsLst>
                  <a:gs pos="0">
                    <a:srgbClr val="3366FF"/>
                  </a:gs>
                  <a:gs pos="100000">
                    <a:srgbClr val="182F76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/>
              </a:p>
            </p:txBody>
          </p:sp>
        </p:grpSp>
        <p:grpSp>
          <p:nvGrpSpPr>
            <p:cNvPr id="1036" name="Group 12"/>
            <p:cNvGrpSpPr>
              <a:grpSpLocks/>
            </p:cNvGrpSpPr>
            <p:nvPr/>
          </p:nvGrpSpPr>
          <p:grpSpPr bwMode="auto">
            <a:xfrm>
              <a:off x="3494" y="690"/>
              <a:ext cx="1131" cy="189"/>
              <a:chOff x="3494" y="690"/>
              <a:chExt cx="1131" cy="189"/>
            </a:xfrm>
          </p:grpSpPr>
          <p:sp>
            <p:nvSpPr>
              <p:cNvPr id="1040" name="Rectangle 13"/>
              <p:cNvSpPr>
                <a:spLocks noChangeArrowheads="1"/>
              </p:cNvSpPr>
              <p:nvPr/>
            </p:nvSpPr>
            <p:spPr bwMode="auto">
              <a:xfrm>
                <a:off x="3848" y="690"/>
                <a:ext cx="238" cy="189"/>
              </a:xfrm>
              <a:prstGeom prst="rect">
                <a:avLst/>
              </a:prstGeom>
              <a:gradFill rotWithShape="0">
                <a:gsLst>
                  <a:gs pos="0">
                    <a:srgbClr val="3366FF"/>
                  </a:gs>
                  <a:gs pos="100000">
                    <a:srgbClr val="182F76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/>
              </a:p>
            </p:txBody>
          </p:sp>
          <p:sp>
            <p:nvSpPr>
              <p:cNvPr id="1041" name="Rectangle 14"/>
              <p:cNvSpPr>
                <a:spLocks noChangeArrowheads="1"/>
              </p:cNvSpPr>
              <p:nvPr/>
            </p:nvSpPr>
            <p:spPr bwMode="auto">
              <a:xfrm>
                <a:off x="4417" y="690"/>
                <a:ext cx="208" cy="189"/>
              </a:xfrm>
              <a:prstGeom prst="rect">
                <a:avLst/>
              </a:prstGeom>
              <a:gradFill rotWithShape="0">
                <a:gsLst>
                  <a:gs pos="0">
                    <a:srgbClr val="3366FF"/>
                  </a:gs>
                  <a:gs pos="100000">
                    <a:srgbClr val="182F76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/>
              </a:p>
            </p:txBody>
          </p:sp>
          <p:sp>
            <p:nvSpPr>
              <p:cNvPr id="1042" name="Rectangle 15"/>
              <p:cNvSpPr>
                <a:spLocks noChangeArrowheads="1"/>
              </p:cNvSpPr>
              <p:nvPr/>
            </p:nvSpPr>
            <p:spPr bwMode="auto">
              <a:xfrm>
                <a:off x="4140" y="690"/>
                <a:ext cx="238" cy="189"/>
              </a:xfrm>
              <a:prstGeom prst="rect">
                <a:avLst/>
              </a:prstGeom>
              <a:gradFill rotWithShape="0">
                <a:gsLst>
                  <a:gs pos="0">
                    <a:srgbClr val="3366FF"/>
                  </a:gs>
                  <a:gs pos="100000">
                    <a:srgbClr val="182F76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/>
              </a:p>
            </p:txBody>
          </p:sp>
          <p:sp>
            <p:nvSpPr>
              <p:cNvPr id="1043" name="Rectangle 16"/>
              <p:cNvSpPr>
                <a:spLocks noChangeArrowheads="1"/>
              </p:cNvSpPr>
              <p:nvPr/>
            </p:nvSpPr>
            <p:spPr bwMode="auto">
              <a:xfrm>
                <a:off x="3494" y="690"/>
                <a:ext cx="298" cy="189"/>
              </a:xfrm>
              <a:prstGeom prst="rect">
                <a:avLst/>
              </a:prstGeom>
              <a:gradFill rotWithShape="0">
                <a:gsLst>
                  <a:gs pos="0">
                    <a:srgbClr val="3366FF"/>
                  </a:gs>
                  <a:gs pos="100000">
                    <a:srgbClr val="182F76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/>
              </a:p>
            </p:txBody>
          </p:sp>
        </p:grpSp>
        <p:grpSp>
          <p:nvGrpSpPr>
            <p:cNvPr id="1037" name="Group 17"/>
            <p:cNvGrpSpPr>
              <a:grpSpLocks/>
            </p:cNvGrpSpPr>
            <p:nvPr/>
          </p:nvGrpSpPr>
          <p:grpSpPr bwMode="auto">
            <a:xfrm>
              <a:off x="471" y="690"/>
              <a:ext cx="2985" cy="189"/>
              <a:chOff x="471" y="690"/>
              <a:chExt cx="2985" cy="189"/>
            </a:xfrm>
          </p:grpSpPr>
          <p:sp>
            <p:nvSpPr>
              <p:cNvPr id="1038" name="Rectangle 18"/>
              <p:cNvSpPr>
                <a:spLocks noChangeArrowheads="1"/>
              </p:cNvSpPr>
              <p:nvPr/>
            </p:nvSpPr>
            <p:spPr bwMode="auto">
              <a:xfrm>
                <a:off x="3126" y="690"/>
                <a:ext cx="328" cy="189"/>
              </a:xfrm>
              <a:prstGeom prst="rect">
                <a:avLst/>
              </a:prstGeom>
              <a:gradFill rotWithShape="0">
                <a:gsLst>
                  <a:gs pos="0">
                    <a:srgbClr val="3366FF"/>
                  </a:gs>
                  <a:gs pos="100000">
                    <a:srgbClr val="182F76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/>
              </a:p>
            </p:txBody>
          </p:sp>
          <p:sp>
            <p:nvSpPr>
              <p:cNvPr id="1039" name="Rectangle 19"/>
              <p:cNvSpPr>
                <a:spLocks noChangeArrowheads="1"/>
              </p:cNvSpPr>
              <p:nvPr/>
            </p:nvSpPr>
            <p:spPr bwMode="auto">
              <a:xfrm>
                <a:off x="471" y="690"/>
                <a:ext cx="2617" cy="189"/>
              </a:xfrm>
              <a:prstGeom prst="rect">
                <a:avLst/>
              </a:prstGeom>
              <a:gradFill rotWithShape="0">
                <a:gsLst>
                  <a:gs pos="0">
                    <a:srgbClr val="3366FF"/>
                  </a:gs>
                  <a:gs pos="100000">
                    <a:srgbClr val="182F76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/>
              </a:p>
            </p:txBody>
          </p:sp>
        </p:grpSp>
      </p:grpSp>
      <p:sp>
        <p:nvSpPr>
          <p:cNvPr id="1027" name="Rectangle 20"/>
          <p:cNvSpPr>
            <a:spLocks noGrp="1" noChangeArrowheads="1"/>
          </p:cNvSpPr>
          <p:nvPr>
            <p:ph type="title"/>
          </p:nvPr>
        </p:nvSpPr>
        <p:spPr bwMode="auto">
          <a:xfrm>
            <a:off x="774700" y="257175"/>
            <a:ext cx="7772400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21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1775" y="1111250"/>
            <a:ext cx="8680450" cy="529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5382" name="Rectangle 2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555038" y="6432550"/>
            <a:ext cx="588962" cy="42545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45720" tIns="46038" rIns="45720" bIns="46038" numCol="1" anchor="b" anchorCtr="0" compatLnSpc="1">
            <a:prstTxWarp prst="textNoShape">
              <a:avLst/>
            </a:prstTxWarp>
          </a:bodyPr>
          <a:lstStyle>
            <a:lvl1pPr algn="ctr" eaLnBrk="0" hangingPunct="0">
              <a:defRPr sz="2800" b="1">
                <a:latin typeface="Arial Narrow" panose="020B0606020202030204" pitchFamily="34" charset="0"/>
              </a:defRPr>
            </a:lvl1pPr>
          </a:lstStyle>
          <a:p>
            <a:fld id="{11C44B74-F50D-483A-99CB-8A3D7FFC0A8F}" type="slidenum">
              <a:rPr lang="en-US" altLang="en-US"/>
              <a:pPr/>
              <a:t>‹#›</a:t>
            </a:fld>
            <a:r>
              <a:rPr lang="en-US" altLang="en-US"/>
              <a:t> </a:t>
            </a:r>
          </a:p>
        </p:txBody>
      </p:sp>
      <p:grpSp>
        <p:nvGrpSpPr>
          <p:cNvPr id="1030" name="Group 23"/>
          <p:cNvGrpSpPr>
            <a:grpSpLocks/>
          </p:cNvGrpSpPr>
          <p:nvPr userDrawn="1"/>
        </p:nvGrpSpPr>
        <p:grpSpPr bwMode="auto">
          <a:xfrm>
            <a:off x="15875" y="0"/>
            <a:ext cx="822325" cy="822325"/>
            <a:chOff x="10" y="133"/>
            <a:chExt cx="518" cy="518"/>
          </a:xfrm>
        </p:grpSpPr>
        <p:sp>
          <p:nvSpPr>
            <p:cNvPr id="1031" name="Oval 24"/>
            <p:cNvSpPr>
              <a:spLocks noChangeArrowheads="1"/>
            </p:cNvSpPr>
            <p:nvPr userDrawn="1"/>
          </p:nvSpPr>
          <p:spPr bwMode="auto">
            <a:xfrm>
              <a:off x="10" y="133"/>
              <a:ext cx="518" cy="51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pic>
          <p:nvPicPr>
            <p:cNvPr id="1032" name="Picture 25"/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40" y="180"/>
              <a:ext cx="461" cy="4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 i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 i="1">
          <a:solidFill>
            <a:schemeClr val="tx1"/>
          </a:solidFill>
          <a:latin typeface="Arial" charset="0"/>
          <a:cs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 i="1">
          <a:solidFill>
            <a:schemeClr val="tx1"/>
          </a:solidFill>
          <a:latin typeface="Arial" charset="0"/>
          <a:cs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 i="1">
          <a:solidFill>
            <a:schemeClr val="tx1"/>
          </a:solidFill>
          <a:latin typeface="Arial" charset="0"/>
          <a:cs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 i="1">
          <a:solidFill>
            <a:schemeClr val="tx1"/>
          </a:solidFill>
          <a:latin typeface="Arial" charset="0"/>
          <a:cs typeface="Times New Roman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 b="1" i="1">
          <a:solidFill>
            <a:schemeClr val="tx1"/>
          </a:solidFill>
          <a:latin typeface="Arial" charset="0"/>
          <a:cs typeface="Times New Roman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 b="1" i="1">
          <a:solidFill>
            <a:schemeClr val="tx1"/>
          </a:solidFill>
          <a:latin typeface="Arial" charset="0"/>
          <a:cs typeface="Times New Roman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 i="1">
          <a:solidFill>
            <a:schemeClr val="tx1"/>
          </a:solidFill>
          <a:latin typeface="Arial" charset="0"/>
          <a:cs typeface="Times New Roman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 i="1">
          <a:solidFill>
            <a:schemeClr val="tx1"/>
          </a:solidFill>
          <a:latin typeface="Arial" charset="0"/>
          <a:cs typeface="Times New Roman" pitchFamily="18" charset="0"/>
        </a:defRPr>
      </a:lvl9pPr>
    </p:titleStyle>
    <p:bodyStyle>
      <a:lvl1pPr marL="228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b="1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7013" algn="l" rtl="0" eaLnBrk="0" fontAlgn="base" hangingPunct="0">
        <a:spcBef>
          <a:spcPct val="20000"/>
        </a:spcBef>
        <a:spcAft>
          <a:spcPct val="0"/>
        </a:spcAft>
        <a:buChar char="–"/>
        <a:defRPr sz="2000" b="1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b="1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b="1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12"/>
          <p:cNvSpPr txBox="1">
            <a:spLocks noChangeArrowheads="1"/>
          </p:cNvSpPr>
          <p:nvPr/>
        </p:nvSpPr>
        <p:spPr bwMode="auto">
          <a:xfrm>
            <a:off x="3841986" y="-73654"/>
            <a:ext cx="1231427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solidFill>
                  <a:srgbClr val="339933"/>
                </a:solidFill>
              </a:rPr>
              <a:t>UNCLASSIFIED</a:t>
            </a:r>
          </a:p>
        </p:txBody>
      </p:sp>
      <p:sp>
        <p:nvSpPr>
          <p:cNvPr id="3076" name="Line 3"/>
          <p:cNvSpPr>
            <a:spLocks noChangeShapeType="1"/>
          </p:cNvSpPr>
          <p:nvPr/>
        </p:nvSpPr>
        <p:spPr bwMode="auto">
          <a:xfrm>
            <a:off x="4591050" y="1066800"/>
            <a:ext cx="0" cy="548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7" name="Line 4"/>
          <p:cNvSpPr>
            <a:spLocks noChangeShapeType="1"/>
          </p:cNvSpPr>
          <p:nvPr/>
        </p:nvSpPr>
        <p:spPr bwMode="auto">
          <a:xfrm>
            <a:off x="587881" y="3429000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8" name="Rectangle 6"/>
          <p:cNvSpPr>
            <a:spLocks noChangeArrowheads="1"/>
          </p:cNvSpPr>
          <p:nvPr/>
        </p:nvSpPr>
        <p:spPr bwMode="auto">
          <a:xfrm>
            <a:off x="0" y="990600"/>
            <a:ext cx="4572000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sz="1400"/>
              <a:t>(U) Test and validate NSA-engineered post-quantum encryption platform for maritime operations. Solution addresses dual cyber threats (current APTs and future quantum-enabled adversaries) with drop-in integration, autonomous threat detection, and CNSA 2.0 compliance. Demonstrates TRL 8-9 advancement in operational naval environment.</a:t>
            </a:r>
          </a:p>
        </p:txBody>
      </p:sp>
      <p:sp>
        <p:nvSpPr>
          <p:cNvPr id="3079" name="Text Box 7"/>
          <p:cNvSpPr txBox="1">
            <a:spLocks noChangeArrowheads="1"/>
          </p:cNvSpPr>
          <p:nvPr/>
        </p:nvSpPr>
        <p:spPr bwMode="auto">
          <a:xfrm>
            <a:off x="0" y="3524250"/>
            <a:ext cx="4322762" cy="3293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sz="1100"/>
              <a:t>(U) Availability date: Q2-Q3 2026 (Exercise Window 28 JUN 2026)</a:t>
            </a:r>
          </a:p>
        </p:txBody>
      </p:sp>
      <p:sp>
        <p:nvSpPr>
          <p:cNvPr id="3080" name="Text Box 6"/>
          <p:cNvSpPr txBox="1">
            <a:spLocks noChangeArrowheads="1"/>
          </p:cNvSpPr>
          <p:nvPr/>
        </p:nvSpPr>
        <p:spPr bwMode="auto">
          <a:xfrm>
            <a:off x="4648200" y="3524250"/>
            <a:ext cx="4349750" cy="2800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sz="1100"/>
              <a:t>(U) Experimentation sponsor: United States Pacific Fleet (PACFLT); Supporting: USINDOPACOM J81 JEESC, Naval Supply Systems Command</a:t>
            </a:r>
          </a:p>
        </p:txBody>
      </p:sp>
      <p:sp>
        <p:nvSpPr>
          <p:cNvPr id="3081" name="TextBox 13"/>
          <p:cNvSpPr txBox="1">
            <a:spLocks noChangeArrowheads="1"/>
          </p:cNvSpPr>
          <p:nvPr/>
        </p:nvSpPr>
        <p:spPr bwMode="auto">
          <a:xfrm>
            <a:off x="1143000" y="381000"/>
            <a:ext cx="6858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sz="2400" b="1"/>
              <a:t>(U) Quantum-Safe Maritime Cybersecurity Platform Validation - Isidore Quantum®</a:t>
            </a:r>
          </a:p>
        </p:txBody>
      </p:sp>
      <p:sp>
        <p:nvSpPr>
          <p:cNvPr id="3082" name="AutoShape 16" descr="https://webmail.afmc.af.mil/Exchange/Michael.Wagner2@WPAFB.AF.MIL/Inbox/Photo%27s%20%26%20Materials%20from%20Today.EML/1_multipart/1_multipart/image001.jpg?Security=2"/>
          <p:cNvSpPr>
            <a:spLocks noChangeAspect="1" noChangeArrowheads="1"/>
          </p:cNvSpPr>
          <p:nvPr/>
        </p:nvSpPr>
        <p:spPr bwMode="auto">
          <a:xfrm>
            <a:off x="34925" y="-76200"/>
            <a:ext cx="5410200" cy="451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0"/>
          </a:p>
        </p:txBody>
      </p:sp>
      <p:sp>
        <p:nvSpPr>
          <p:cNvPr id="3083" name="AutoShape 18" descr="https://webmail.afmc.af.mil/Exchange/Michael.Wagner2@WPAFB.AF.MIL/Inbox/Photo%27s%20%26%20Materials%20from%20Today.EML/1_multipart/1_multipart/image001.jpg?Security=2"/>
          <p:cNvSpPr>
            <a:spLocks noChangeAspect="1" noChangeArrowheads="1"/>
          </p:cNvSpPr>
          <p:nvPr/>
        </p:nvSpPr>
        <p:spPr bwMode="auto">
          <a:xfrm>
            <a:off x="127000" y="-2163763"/>
            <a:ext cx="5410200" cy="4514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0"/>
          </a:p>
        </p:txBody>
      </p:sp>
      <p:sp>
        <p:nvSpPr>
          <p:cNvPr id="3084" name="TextBox 12"/>
          <p:cNvSpPr txBox="1">
            <a:spLocks noChangeArrowheads="1"/>
          </p:cNvSpPr>
          <p:nvPr/>
        </p:nvSpPr>
        <p:spPr bwMode="auto">
          <a:xfrm>
            <a:off x="4724400" y="1851600"/>
            <a:ext cx="411479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0" dirty="0"/>
              <a:t>Representative image or graphic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0" dirty="0"/>
              <a:t>OV-1</a:t>
            </a:r>
          </a:p>
        </p:txBody>
      </p:sp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3841986" y="6682848"/>
            <a:ext cx="1231427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solidFill>
                  <a:srgbClr val="339933"/>
                </a:solidFill>
              </a:rPr>
              <a:t>UNCLASSIFIED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Text Box 7"/>
          <p:cNvSpPr txBox="1">
            <a:spLocks noChangeArrowheads="1"/>
          </p:cNvSpPr>
          <p:nvPr/>
        </p:nvSpPr>
        <p:spPr bwMode="auto">
          <a:xfrm>
            <a:off x="0" y="3429000"/>
            <a:ext cx="4267200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sz="1000"/>
              <a:t>(U) Deployment: Minimum 2 operational naval vessels (AIS/GPS bridge integration), 1 major WESTPAC port facility (logistics platform testing), 1 satellite gateway facility (VSAT/SATCOM validation). Integration duration: 4-6 weeks within VS26 exercise timeline.</a:t>
            </a:r>
          </a:p>
        </p:txBody>
      </p:sp>
      <p:sp>
        <p:nvSpPr>
          <p:cNvPr id="4104" name="Text Box 8"/>
          <p:cNvSpPr txBox="1">
            <a:spLocks noChangeArrowheads="1"/>
          </p:cNvSpPr>
          <p:nvPr/>
        </p:nvSpPr>
        <p:spPr bwMode="auto">
          <a:xfrm>
            <a:off x="4648200" y="3429000"/>
            <a:ext cx="4343400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sz="1000"/>
              <a:t>(U) Host component / unit support requested: Third Fleet or Seventh Fleet operational assets; PACFLT command staff for exercise coordination; Port of Guam or alternative WESTPAC facility; Satellite ground station operator support. Observer seats: 6-8 personnel (Cybersecurity SMEs, Command staff, Logistics personnel, Quantum specialists).</a:t>
            </a:r>
          </a:p>
        </p:txBody>
      </p:sp>
      <p:sp>
        <p:nvSpPr>
          <p:cNvPr id="4105" name="Text Box 9"/>
          <p:cNvSpPr txBox="1">
            <a:spLocks noChangeArrowheads="1"/>
          </p:cNvSpPr>
          <p:nvPr/>
        </p:nvSpPr>
        <p:spPr bwMode="auto">
          <a:xfrm>
            <a:off x="4648200" y="990600"/>
            <a:ext cx="4343400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sz="1000"/>
              <a:t>(U) Exercise considerations: Encrypted test channels for classified threat data. Drop-in integration minimizes operational disruption. No infrastructure retrofits required. Autonomous operation post-deployment. Real-time threat detection logs classified handling. Potential for early transition to operational Fleet units post-validation.</a:t>
            </a:r>
          </a:p>
        </p:txBody>
      </p:sp>
      <p:sp>
        <p:nvSpPr>
          <p:cNvPr id="4106" name="Text Box 10"/>
          <p:cNvSpPr txBox="1">
            <a:spLocks noChangeArrowheads="1"/>
          </p:cNvSpPr>
          <p:nvPr/>
        </p:nvSpPr>
        <p:spPr bwMode="auto">
          <a:xfrm>
            <a:off x="0" y="990600"/>
            <a:ext cx="42672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sz="1000"/>
              <a:t>(U) Personnel / equipment list: Forward Edge-AI Integration Team (2-3); Naval IT Personnel (4-5); Port Operations Staff (2-3); Observers/SMEs (6-8). Hardware: Isidore Quantum units (3-4 variants), Integration equipment, Test terminals, Comm infrastructure. Estimated SWaP: &lt;12W per unit, compact form factor (140x89x39mm).</a:t>
            </a:r>
            <a:endParaRPr lang="en-US" altLang="en-US" sz="1800" b="0" dirty="0"/>
          </a:p>
        </p:txBody>
      </p:sp>
      <p:sp>
        <p:nvSpPr>
          <p:cNvPr id="11" name="TextBox 13"/>
          <p:cNvSpPr txBox="1">
            <a:spLocks noChangeArrowheads="1"/>
          </p:cNvSpPr>
          <p:nvPr/>
        </p:nvSpPr>
        <p:spPr bwMode="auto">
          <a:xfrm>
            <a:off x="1143000" y="381000"/>
            <a:ext cx="6858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sz="2000" b="1"/>
              <a:t>(U) Quantum-Safe Maritime Cybersecurity Platform Validation - Isidore Quantum®</a:t>
            </a:r>
          </a:p>
        </p:txBody>
      </p:sp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3841986" y="-73654"/>
            <a:ext cx="1231427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solidFill>
                  <a:srgbClr val="339933"/>
                </a:solidFill>
              </a:rPr>
              <a:t>UNCLASSIFIED</a:t>
            </a:r>
          </a:p>
        </p:txBody>
      </p:sp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3841986" y="6682848"/>
            <a:ext cx="1231427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100" dirty="0">
                <a:solidFill>
                  <a:srgbClr val="339933"/>
                </a:solidFill>
              </a:rPr>
              <a:t>UNCLASSIFIED</a:t>
            </a:r>
          </a:p>
        </p:txBody>
      </p:sp>
      <p:sp>
        <p:nvSpPr>
          <p:cNvPr id="14" name="Line 3"/>
          <p:cNvSpPr>
            <a:spLocks noChangeShapeType="1"/>
          </p:cNvSpPr>
          <p:nvPr/>
        </p:nvSpPr>
        <p:spPr bwMode="auto">
          <a:xfrm>
            <a:off x="4591050" y="1066800"/>
            <a:ext cx="0" cy="548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4"/>
          <p:cNvSpPr>
            <a:spLocks noChangeShapeType="1"/>
          </p:cNvSpPr>
          <p:nvPr/>
        </p:nvSpPr>
        <p:spPr bwMode="auto">
          <a:xfrm>
            <a:off x="587881" y="3429000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Default Design">
  <a:themeElements>
    <a:clrScheme name="1_Default Design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33CC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ADE2"/>
      </a:accent5>
      <a:accent6>
        <a:srgbClr val="2D2DB9"/>
      </a:accent6>
      <a:hlink>
        <a:srgbClr val="0066FF"/>
      </a:hlink>
      <a:folHlink>
        <a:srgbClr val="9933FF"/>
      </a:folHlink>
    </a:clrScheme>
    <a:fontScheme name="1_Default Design">
      <a:majorFont>
        <a:latin typeface="Arial"/>
        <a:ea typeface=""/>
        <a:cs typeface="Times New Roman"/>
      </a:majorFont>
      <a:minorFont>
        <a:latin typeface="Arial"/>
        <a:ea typeface="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33CC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ADE2"/>
        </a:accent5>
        <a:accent6>
          <a:srgbClr val="2D2DB9"/>
        </a:accent6>
        <a:hlink>
          <a:srgbClr val="0066FF"/>
        </a:hlink>
        <a:folHlink>
          <a:srgbClr val="9933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795E6504B3ED643A65A84F4D1083CD0" ma:contentTypeVersion="16" ma:contentTypeDescription="Create a new document." ma:contentTypeScope="" ma:versionID="3773e35d476b1eb7c14543b3c1f3d68e">
  <xsd:schema xmlns:xsd="http://www.w3.org/2001/XMLSchema" xmlns:xs="http://www.w3.org/2001/XMLSchema" xmlns:p="http://schemas.microsoft.com/office/2006/metadata/properties" xmlns:ns3="35b9dc04-789e-4307-9dee-1d551e234e24" xmlns:ns4="6f81de39-edad-4716-8a3e-a542477e6317" targetNamespace="http://schemas.microsoft.com/office/2006/metadata/properties" ma:root="true" ma:fieldsID="cce535fddc60042f233b9669af660ce7" ns3:_="" ns4:_="">
    <xsd:import namespace="35b9dc04-789e-4307-9dee-1d551e234e24"/>
    <xsd:import namespace="6f81de39-edad-4716-8a3e-a542477e631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LengthInSecond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OCR" minOccurs="0"/>
                <xsd:element ref="ns3:MediaServiceLocation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b9dc04-789e-4307-9dee-1d551e234e2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81de39-edad-4716-8a3e-a542477e6317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5b9dc04-789e-4307-9dee-1d551e234e24" xsi:nil="true"/>
  </documentManagement>
</p:properties>
</file>

<file path=customXml/itemProps1.xml><?xml version="1.0" encoding="utf-8"?>
<ds:datastoreItem xmlns:ds="http://schemas.openxmlformats.org/officeDocument/2006/customXml" ds:itemID="{C84D32C6-27F0-417A-A0E0-4CF12D4D3F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19AD8E8-CE3E-471E-915B-5DB4A683E04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5b9dc04-789e-4307-9dee-1d551e234e24"/>
    <ds:schemaRef ds:uri="6f81de39-edad-4716-8a3e-a542477e631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455A2C9-CD36-4FCC-A5E3-933FE7B1DAA3}">
  <ds:schemaRefs>
    <ds:schemaRef ds:uri="35b9dc04-789e-4307-9dee-1d551e234e24"/>
    <ds:schemaRef ds:uri="http://purl.org/dc/dcmitype/"/>
    <ds:schemaRef ds:uri="http://purl.org/dc/terms/"/>
    <ds:schemaRef ds:uri="http://schemas.microsoft.com/office/2006/metadata/properties"/>
    <ds:schemaRef ds:uri="http://purl.org/dc/elements/1.1/"/>
    <ds:schemaRef ds:uri="6f81de39-edad-4716-8a3e-a542477e6317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1085</TotalTime>
  <Words>438</Words>
  <Application>Microsoft Office PowerPoint</Application>
  <PresentationFormat>On-screen Show (4:3)</PresentationFormat>
  <Paragraphs>34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Arial Narrow</vt:lpstr>
      <vt:lpstr>Calibri</vt:lpstr>
      <vt:lpstr>1_Default Design</vt:lpstr>
      <vt:lpstr>PowerPoint Presentation</vt:lpstr>
      <vt:lpstr>PowerPoint Presentation</vt:lpstr>
    </vt:vector>
  </TitlesOfParts>
  <Company>MEC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CG08 Experimentation Workshop Working Groups</dc:title>
  <dc:creator>Bill Spicer</dc:creator>
  <cp:lastModifiedBy>Curet, Ismael CTR INDOPACOM (USA)</cp:lastModifiedBy>
  <cp:revision>103</cp:revision>
  <cp:lastPrinted>2025-07-03T19:53:56Z</cp:lastPrinted>
  <dcterms:created xsi:type="dcterms:W3CDTF">2007-10-03T18:31:48Z</dcterms:created>
  <dcterms:modified xsi:type="dcterms:W3CDTF">2025-07-03T19:54:40Z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0x0101001795E6504B3ED643A65A84F4D1083CD0</vt:lpwstr>
  </property>
</Properties>
</file>